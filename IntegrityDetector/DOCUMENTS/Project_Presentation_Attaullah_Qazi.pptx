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698480" cy="48463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C93349"/>
                </a:solidFill>
                <a:latin typeface="Calibri" panose="020F0502020204030204"/>
              </a:rPr>
              <a:t>AI Plagiarism &amp;</a:t>
            </a:r>
            <a:endParaRPr sz="4600" b="1">
              <a:solidFill>
                <a:srgbClr val="C93349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C93349"/>
                </a:solidFill>
                <a:latin typeface="Calibri" panose="020F0502020204030204"/>
              </a:rPr>
              <a:t>AI-Content Detector</a:t>
            </a:r>
            <a:endParaRPr sz="4600" b="1">
              <a:solidFill>
                <a:srgbClr val="C93349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B2B2B"/>
                </a:solidFill>
                <a:latin typeface="Calibri" panose="020F0502020204030204"/>
              </a:rPr>
              <a:t>An Artificial Intelligence Project</a:t>
            </a:r>
            <a:endParaRPr sz="2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5880" y="3794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“Is this the student’s work — or the internet’s?”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25880" y="4389120"/>
            <a:ext cx="5852160" cy="1005840"/>
          </a:xfrm>
          <a:prstGeom prst="round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424045"/>
            <a:ext cx="5852160" cy="9201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 panose="020F0502020204030204"/>
              </a:rPr>
              <a:t>Muhammad Attaullah</a:t>
            </a:r>
            <a:br>
              <a:rPr sz="2000" b="1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2000" b="1">
                <a:solidFill>
                  <a:srgbClr val="FFFFFF"/>
                </a:solidFill>
                <a:latin typeface="Calibri" panose="020F0502020204030204"/>
              </a:rPr>
              <a:t>Muhammad Ibraim</a:t>
            </a:r>
            <a:br>
              <a:rPr lang="en-US" sz="2000" b="1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2000" b="1">
                <a:solidFill>
                  <a:srgbClr val="FFFFFF"/>
                </a:solidFill>
                <a:latin typeface="Calibri" panose="020F0502020204030204"/>
              </a:rPr>
              <a:t>Abdul Samad</a:t>
            </a:r>
            <a:endParaRPr lang="en-US" sz="2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0" y="461772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B2B2B"/>
                </a:solidFill>
                <a:latin typeface="Calibri" panose="020F0502020204030204"/>
              </a:rPr>
              <a:t>Course: AI-101</a:t>
            </a:r>
            <a:endParaRPr sz="1400" b="1">
              <a:solidFill>
                <a:srgbClr val="2B2B2B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7A7A7A"/>
                </a:solidFill>
                <a:latin typeface="Calibri" panose="020F0502020204030204"/>
              </a:rPr>
              <a:t>GPU: RTX 4060 Ti (CUDA)</a:t>
            </a:r>
            <a:endParaRPr sz="14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OVERVIEW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What Is This Project?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B2B2B"/>
                </a:solidFill>
                <a:latin typeface="Calibri" panose="020F0502020204030204"/>
              </a:rPr>
              <a:t>A smart tool that reads a student’s work and answers one question: is the writing the student’s own — or copied / written by an AI?</a:t>
            </a:r>
            <a:endParaRPr sz="19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3200400"/>
            <a:ext cx="3383280" cy="155448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383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0485F"/>
                </a:solidFill>
                <a:latin typeface="Calibri" panose="020F0502020204030204"/>
              </a:rPr>
              <a:t>Plagiarism %</a:t>
            </a:r>
            <a:endParaRPr sz="2000" b="1">
              <a:solidFill>
                <a:srgbClr val="F0485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402336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How much looks copied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16552" y="3200400"/>
            <a:ext cx="3383280" cy="155448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3383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0485F"/>
                </a:solidFill>
                <a:latin typeface="Calibri" panose="020F0502020204030204"/>
              </a:rPr>
              <a:t>AI-generated %</a:t>
            </a:r>
            <a:endParaRPr sz="2000" b="1">
              <a:solidFill>
                <a:srgbClr val="F0485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16552" y="402336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How likely it is AI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1" y="3200400"/>
            <a:ext cx="3383280" cy="155448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3383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3AA76D"/>
                </a:solidFill>
                <a:latin typeface="Calibri" panose="020F0502020204030204"/>
              </a:rPr>
              <a:t>Integrity score</a:t>
            </a:r>
            <a:endParaRPr sz="2000" b="1">
              <a:solidFill>
                <a:srgbClr val="3AA76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19871" y="402336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100 = clean, lower = risky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It also highlights suspicious text, finds matching sources, studies writing style, exports a PDF report — and runs fully offline.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AI CONCEPTS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How This Is an AI Project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Machine Learning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the model learns from thousands of human &amp; AI essays, not fixed rules.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Neural Networks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layered software, inspired by the brain, that learns patterns in text.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Natural Language Processing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teaching the computer to understand human language.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Transformers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the modern AI design (like ChatGPT). Our main model, DistilBERT, is one.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Fine-tuning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taking a model that already knows English and training it for our job.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THE BRAIN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The AI Models Used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DistilBERT classifier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main signal (60%). A fast transformer, fine-tuned to spot AI text.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GPT-2 perplexity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measures how predictable the text is. AI is smooth; humans are messier. (25%)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Burstiness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humans vary sentence length; AI stays steady. (15%)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TF-IDF + cosine similarity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turns text into numbers to find copied passages (plagiarism).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0485F"/>
                </a:solidFill>
              </a:rPr>
              <a:t>●  </a:t>
            </a:r>
            <a:r>
              <a:rPr sz="2000" b="1">
                <a:solidFill>
                  <a:srgbClr val="2B2B2B"/>
                </a:solidFill>
                <a:latin typeface="Calibri" panose="020F0502020204030204"/>
              </a:rPr>
              <a:t>Stylometry — </a:t>
            </a:r>
            <a:r>
              <a:rPr sz="2000">
                <a:solidFill>
                  <a:srgbClr val="2B2B2B"/>
                </a:solidFill>
                <a:latin typeface="Calibri" panose="020F0502020204030204"/>
              </a:rPr>
              <a:t>a writing “fingerprint” compared to the student’s past work.</a:t>
            </a:r>
            <a:endParaRPr sz="2000">
              <a:solidFill>
                <a:srgbClr val="2B2B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HARDWARE &amp; CUDA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Training on an RTX 4060 Ti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 panose="020F0502020204030204"/>
              </a:rPr>
              <a:t>Training needs millions of calculations — too slow for a CPU. We used an NVIDIA GeForce RTX 4060 Ti (GPU), which runs many calculations at once.</a:t>
            </a:r>
            <a:endParaRPr sz="18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0485F"/>
                </a:solidFill>
              </a:rPr>
              <a:t>●  </a:t>
            </a: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CUDA — </a:t>
            </a:r>
            <a:r>
              <a:rPr sz="1900">
                <a:solidFill>
                  <a:srgbClr val="2B2B2B"/>
                </a:solidFill>
                <a:latin typeface="Calibri" panose="020F0502020204030204"/>
              </a:rPr>
              <a:t>NVIDIA tech that lets our code run on the GPU. Training is GPU-only by design.</a:t>
            </a:r>
            <a:endParaRPr sz="19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0485F"/>
                </a:solidFill>
              </a:rPr>
              <a:t>●  </a:t>
            </a: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Mixed precision (AMP) — </a:t>
            </a:r>
            <a:r>
              <a:rPr sz="1900">
                <a:solidFill>
                  <a:srgbClr val="2B2B2B"/>
                </a:solidFill>
                <a:latin typeface="Calibri" panose="020F0502020204030204"/>
              </a:rPr>
              <a:t>uses smaller FP16 numbers where safe: faster and less memory.</a:t>
            </a:r>
            <a:endParaRPr sz="190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4480560"/>
            <a:ext cx="7315200" cy="141732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6949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AA76D"/>
                </a:solidFill>
                <a:latin typeface="Calibri" panose="020F0502020204030204"/>
              </a:rPr>
              <a:t>Using device: cuda</a:t>
            </a:r>
            <a:endParaRPr sz="1500" b="0">
              <a:solidFill>
                <a:srgbClr val="3AA76D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AA76D"/>
                </a:solidFill>
                <a:latin typeface="Calibri" panose="020F0502020204030204"/>
              </a:rPr>
              <a:t>GPU Detected: NVIDIA GeForce RTX 4060 Ti</a:t>
            </a:r>
            <a:endParaRPr sz="1500" b="0">
              <a:solidFill>
                <a:srgbClr val="3AA76D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AA76D"/>
                </a:solidFill>
                <a:latin typeface="Calibri" panose="020F0502020204030204"/>
              </a:rPr>
              <a:t>AMP matmul on GPU: OK</a:t>
            </a:r>
            <a:endParaRPr sz="1500" b="0">
              <a:solidFill>
                <a:srgbClr val="3AA76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TOOLS &amp; SOFTWARE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What Was Installed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PyTorch (CUDA)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Deep-learning engine, runs on GPU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2880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HuggingFace Transformers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Provides DistilBERT &amp; GPT-2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" y="269748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9748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scikit-learn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TF-IDF + cosine for plagiarism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69748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69748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spaCy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Language analysis for writing style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3232" y="356616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56616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Flask + SQLAlchemy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Backend server + database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99632" y="356616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6616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React + Tailwind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The web page the user clicks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3232" y="4434840"/>
            <a:ext cx="5212080" cy="73152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3484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3349"/>
                </a:solidFill>
                <a:latin typeface="Calibri" panose="020F0502020204030204"/>
              </a:rPr>
              <a:t>ReportLab / PDF.js — </a:t>
            </a:r>
            <a:r>
              <a:rPr sz="1400" b="0">
                <a:solidFill>
                  <a:srgbClr val="2B2B2B"/>
                </a:solidFill>
                <a:latin typeface="Calibri" panose="020F0502020204030204"/>
              </a:rPr>
              <a:t>PDF report + file preview</a:t>
            </a:r>
            <a:endParaRPr sz="1400" b="0">
              <a:solidFill>
                <a:srgbClr val="2B2B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4 STEPS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How the Model Was Trained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9418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Collect data  —  </a:t>
            </a: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Real human &amp; AI essays from Kaggle datasets.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2907791"/>
            <a:ext cx="731520" cy="731520"/>
          </a:xfrm>
          <a:prstGeom prst="ellipse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2862071"/>
            <a:ext cx="9418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Clean &amp; balance  —  </a:t>
            </a: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Merge, remove duplicates, balance, split 80/10/10 (seed 42 → 49,400 rows).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22960" y="3986783"/>
            <a:ext cx="731520" cy="731520"/>
          </a:xfrm>
          <a:prstGeom prst="ellipse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3941063"/>
            <a:ext cx="9418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Train on the GPU  —  </a:t>
            </a: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Fine-tune DistilBERT for 3 epochs, batch 16, mixed precision on the 4060 Ti.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5065776"/>
            <a:ext cx="731520" cy="731520"/>
          </a:xfrm>
          <a:prstGeom prst="ellipse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5020056"/>
            <a:ext cx="9418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Check &amp; save best  —  </a:t>
            </a: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Test accuracy/F1 each pass; keep the best model.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LIVE DEMO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How the App Works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Calibri" panose="020F0502020204030204"/>
              </a:rPr>
              <a:t>Pick a student, paste text or upload a file, then click Analyze. </a:t>
            </a:r>
            <a:r>
              <a:rPr sz="1600" b="1">
                <a:solidFill>
                  <a:srgbClr val="3AA76D"/>
                </a:solidFill>
                <a:latin typeface="Calibri" panose="020F0502020204030204"/>
              </a:rPr>
              <a:t>“GPU ready” = the card is active.</a:t>
            </a:r>
            <a:endParaRPr sz="1600" b="1">
              <a:solidFill>
                <a:srgbClr val="3AA76D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7331" y="2266000"/>
            <a:ext cx="8186858" cy="415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sc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331" y="2286000"/>
            <a:ext cx="814685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RESULTS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Human vs AI — Caught Correctly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1731" y="1808800"/>
            <a:ext cx="4888778" cy="4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ultoffnot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31" y="1828800"/>
            <a:ext cx="4848778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39742" y="1808800"/>
            <a:ext cx="4951315" cy="4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detectedthetxta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42" y="1828800"/>
            <a:ext cx="491131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3AA76D"/>
                </a:solidFill>
                <a:latin typeface="Calibri" panose="020F0502020204030204"/>
              </a:rPr>
              <a:t>Honest sentence → 100, Low risk</a:t>
            </a:r>
            <a:endParaRPr sz="1500" b="1">
              <a:solidFill>
                <a:srgbClr val="3AA76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0485F"/>
                </a:solidFill>
                <a:latin typeface="Calibri" panose="020F0502020204030204"/>
              </a:rPr>
              <a:t>AI paragraph → 99% AI, High risk</a:t>
            </a:r>
            <a:endParaRPr sz="1500" b="1">
              <a:solidFill>
                <a:srgbClr val="F0485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OUTPUT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One-Click PDF Report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1187" y="1671640"/>
            <a:ext cx="3459145" cy="479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dfalsowor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1187" y="1691640"/>
            <a:ext cx="3419145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292608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B2B2B"/>
                </a:solidFill>
                <a:latin typeface="Calibri" panose="020F0502020204030204"/>
              </a:rPr>
              <a:t>Every analysis exports a clean, themed PDF.</a:t>
            </a:r>
            <a:endParaRPr sz="1800" b="1">
              <a:solidFill>
                <a:srgbClr val="2B2B2B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7A7A7A"/>
                </a:solidFill>
                <a:latin typeface="Calibri" panose="020F0502020204030204"/>
              </a:rPr>
              <a:t>PDF, Word and text uploads are read automatically.</a:t>
            </a:r>
            <a:endParaRPr sz="16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485F"/>
                </a:solidFill>
                <a:latin typeface="Calibri" panose="020F0502020204030204"/>
              </a:rPr>
              <a:t>THE MATH, SIMPLY</a:t>
            </a:r>
            <a:endParaRPr sz="1300" b="1">
              <a:solidFill>
                <a:srgbClr val="F0485F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B2B2B"/>
                </a:solidFill>
                <a:latin typeface="Calibri" panose="020F0502020204030204"/>
              </a:rPr>
              <a:t>How the Scores Are Made</a:t>
            </a:r>
            <a:endParaRPr sz="3200" b="1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2011680" cy="38100"/>
          </a:xfrm>
          <a:prstGeom prst="rect">
            <a:avLst/>
          </a:prstGeom>
          <a:solidFill>
            <a:srgbClr val="F04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0485F"/>
                </a:solidFill>
              </a:rPr>
              <a:t>●  </a:t>
            </a:r>
            <a:r>
              <a:rPr sz="2200" b="1">
                <a:solidFill>
                  <a:srgbClr val="2B2B2B"/>
                </a:solidFill>
                <a:latin typeface="Calibri" panose="020F0502020204030204"/>
              </a:rPr>
              <a:t>Plagiarism % = </a:t>
            </a:r>
            <a:r>
              <a:rPr sz="2200">
                <a:solidFill>
                  <a:srgbClr val="2B2B2B"/>
                </a:solidFill>
                <a:latin typeface="Calibri" panose="020F0502020204030204"/>
              </a:rPr>
              <a:t>share of text that closely matches a known source.</a:t>
            </a:r>
            <a:endParaRPr sz="22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0485F"/>
                </a:solidFill>
              </a:rPr>
              <a:t>●  </a:t>
            </a:r>
            <a:r>
              <a:rPr sz="2200" b="1">
                <a:solidFill>
                  <a:srgbClr val="2B2B2B"/>
                </a:solidFill>
                <a:latin typeface="Calibri" panose="020F0502020204030204"/>
              </a:rPr>
              <a:t>AI % = </a:t>
            </a:r>
            <a:r>
              <a:rPr sz="2200">
                <a:solidFill>
                  <a:srgbClr val="2B2B2B"/>
                </a:solidFill>
                <a:latin typeface="Calibri" panose="020F0502020204030204"/>
              </a:rPr>
              <a:t>DistilBERT (0.60) + perplexity (0.25) + burstiness (0.15).</a:t>
            </a:r>
            <a:endParaRPr sz="22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0485F"/>
                </a:solidFill>
              </a:rPr>
              <a:t>●  </a:t>
            </a:r>
            <a:r>
              <a:rPr sz="2200" b="1">
                <a:solidFill>
                  <a:srgbClr val="2B2B2B"/>
                </a:solidFill>
                <a:latin typeface="Calibri" panose="020F0502020204030204"/>
              </a:rPr>
              <a:t>Integrity = </a:t>
            </a:r>
            <a:r>
              <a:rPr sz="2200">
                <a:solidFill>
                  <a:srgbClr val="2B2B2B"/>
                </a:solidFill>
                <a:latin typeface="Calibri" panose="020F0502020204030204"/>
              </a:rPr>
              <a:t>100 − 0.5 × plagiarism% − 0.5 × AI%.</a:t>
            </a:r>
            <a:endParaRPr sz="220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4572000"/>
            <a:ext cx="10607040" cy="137160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3349"/>
                </a:solidFill>
                <a:latin typeface="Calibri" panose="020F0502020204030204"/>
              </a:rPr>
              <a:t>Very short text is marked “insufficient to assess”, not accused. </a:t>
            </a:r>
            <a:r>
              <a:rPr sz="1700" b="0">
                <a:solidFill>
                  <a:srgbClr val="2B2B2B"/>
                </a:solidFill>
                <a:latin typeface="Calibri" panose="020F0502020204030204"/>
              </a:rPr>
              <a:t>The report is decision-support evidence — a teacher always confirms before acting.</a:t>
            </a:r>
            <a:endParaRPr sz="1700" b="0">
              <a:solidFill>
                <a:srgbClr val="2B2B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4663440"/>
          </a:xfrm>
          <a:prstGeom prst="roundRect">
            <a:avLst/>
          </a:prstGeom>
          <a:solidFill>
            <a:srgbClr val="FDF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C93349"/>
                </a:solidFill>
                <a:latin typeface="Calibri" panose="020F0502020204030204"/>
              </a:rPr>
              <a:t>Summary</a:t>
            </a:r>
            <a:endParaRPr sz="3400" b="1">
              <a:solidFill>
                <a:srgbClr val="C93349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9692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485F"/>
                </a:solidFill>
              </a:rPr>
              <a:t>●  </a:t>
            </a: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A complete AI system, end to end: </a:t>
            </a:r>
            <a:r>
              <a:rPr sz="1900">
                <a:solidFill>
                  <a:srgbClr val="2B2B2B"/>
                </a:solidFill>
                <a:latin typeface="Calibri" panose="020F0502020204030204"/>
              </a:rPr>
              <a:t>data → model → web app.</a:t>
            </a:r>
            <a:endParaRPr sz="19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485F"/>
                </a:solidFill>
              </a:rPr>
              <a:t>●  </a:t>
            </a: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Fine-tuned a transformer (DistilBERT) </a:t>
            </a:r>
            <a:r>
              <a:rPr sz="1900">
                <a:solidFill>
                  <a:srgbClr val="2B2B2B"/>
                </a:solidFill>
                <a:latin typeface="Calibri" panose="020F0502020204030204"/>
              </a:rPr>
              <a:t>on an RTX 4060 Ti with CUDA + mixed precision.</a:t>
            </a:r>
            <a:endParaRPr sz="1900">
              <a:solidFill>
                <a:srgbClr val="2B2B2B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485F"/>
                </a:solidFill>
              </a:rPr>
              <a:t>●  </a:t>
            </a:r>
            <a:r>
              <a:rPr sz="1900" b="1">
                <a:solidFill>
                  <a:srgbClr val="2B2B2B"/>
                </a:solidFill>
                <a:latin typeface="Calibri" panose="020F0502020204030204"/>
              </a:rPr>
              <a:t>Blends 5 AI signals </a:t>
            </a:r>
            <a:r>
              <a:rPr sz="1900">
                <a:solidFill>
                  <a:srgbClr val="2B2B2B"/>
                </a:solidFill>
                <a:latin typeface="Calibri" panose="020F0502020204030204"/>
              </a:rPr>
              <a:t>to protect academic integrity in the age of AI writing.</a:t>
            </a:r>
            <a:endParaRPr sz="1900">
              <a:solidFill>
                <a:srgbClr val="2B2B2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4937760"/>
            <a:ext cx="9692640" cy="4464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C93349"/>
                </a:solidFill>
                <a:latin typeface="Calibri" panose="020F0502020204030204"/>
              </a:rPr>
              <a:t>Thank you  </a:t>
            </a:r>
            <a:endParaRPr sz="2200" b="1">
              <a:solidFill>
                <a:srgbClr val="C9334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3653</Words>
  <Application>WPS Presentation</Application>
  <PresentationFormat>On-screen Show (4:3)</PresentationFormat>
  <Paragraphs>132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Muhammad Ubaidullah Qazi</cp:lastModifiedBy>
  <cp:revision>2</cp:revision>
  <dcterms:created xsi:type="dcterms:W3CDTF">2013-01-27T09:14:00Z</dcterms:created>
  <dcterms:modified xsi:type="dcterms:W3CDTF">2026-06-01T16:56:47Z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B91C194D769C44EEAF5CD8CB1DD6F230_12</vt:lpwstr>
  </property>
  <property fmtid="{D5CDD505-2E9C-101B-9397-08002B2CF9AE}" pid="3" name="KSOProductBuildVer">
    <vt:lpwstr>1033-12.1.0.26372</vt:lpwstr>
  </property>
</Properties>
</file>